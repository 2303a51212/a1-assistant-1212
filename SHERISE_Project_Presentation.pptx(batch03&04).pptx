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53368"/>
    <a:srgbClr val="5723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3" d="100"/>
          <a:sy n="83" d="100"/>
        </p:scale>
        <p:origin x="800" y="5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hyperlink" Target="https://sherise-empower-protect.lovable.app/" TargetMode="External"/><Relationship Id="rId7" Type="http://schemas.openxmlformats.org/officeDocument/2006/relationships/hyperlink" Target="https://www.typescriptlang.org/" TargetMode="External"/><Relationship Id="rId6" Type="http://schemas.openxmlformats.org/officeDocument/2006/relationships/hyperlink" Target=".%20https:/github.com" TargetMode="External"/><Relationship Id="rId5" Type="http://schemas.openxmlformats.org/officeDocument/2006/relationships/hyperlink" Target=".%20https:/ncw.nic.in" TargetMode="External"/><Relationship Id="rId4" Type="http://schemas.openxmlformats.org/officeDocument/2006/relationships/hyperlink" Target="https://tailwindcss.com/" TargetMode="External"/><Relationship Id="rId3" Type="http://schemas.openxmlformats.org/officeDocument/2006/relationships/hyperlink" Target=".%20https:/reactjs.org" TargetMode="External"/><Relationship Id="rId2" Type="http://schemas.openxmlformats.org/officeDocument/2006/relationships/hyperlink" Target=".%20https:/supabase.com" TargetMode="External"/><Relationship Id="rId10" Type="http://schemas.openxmlformats.org/officeDocument/2006/relationships/notesSlide" Target="../notesSlides/notesSlide11.xml"/><Relationship Id="rId1" Type="http://schemas.openxmlformats.org/officeDocument/2006/relationships/hyperlink" Target="https://lovable.dev/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19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2185B"/>
          </a:solidFill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5D1B4B"/>
          </a:solidFill>
          <a:ln w="12700">
            <a:solidFill>
              <a:srgbClr val="5D1B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-548640"/>
            <a:ext cx="2286000" cy="2286000"/>
          </a:xfrm>
          <a:prstGeom prst="ellipse">
            <a:avLst/>
          </a:prstGeom>
          <a:solidFill>
            <a:srgbClr val="6D2060"/>
          </a:solidFill>
          <a:ln w="12700">
            <a:solidFill>
              <a:srgbClr val="6D20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3474720"/>
            <a:ext cx="3657600" cy="3657600"/>
          </a:xfrm>
          <a:prstGeom prst="ellipse">
            <a:avLst/>
          </a:prstGeom>
          <a:solidFill>
            <a:srgbClr val="5D1B4B"/>
          </a:solidFill>
          <a:ln w="12700">
            <a:solidFill>
              <a:srgbClr val="5D1B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02920"/>
            <a:ext cx="73152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0" b="1" kern="0" spc="8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SHERISE</a:t>
            </a:r>
            <a:endParaRPr lang="en-US" sz="68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kern="0" spc="400" dirty="0">
                <a:solidFill>
                  <a:srgbClr val="F8BBD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EMPOWER · PROTECT · RISE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76272"/>
            <a:ext cx="5029200" cy="36576"/>
          </a:xfrm>
          <a:prstGeom prst="rect">
            <a:avLst/>
          </a:prstGeom>
          <a:solidFill>
            <a:srgbClr val="C2185B"/>
          </a:solidFill>
        </p:spPr>
      </p:sp>
      <p:sp>
        <p:nvSpPr>
          <p:cNvPr id="9" name="Text 7"/>
          <p:cNvSpPr/>
          <p:nvPr/>
        </p:nvSpPr>
        <p:spPr>
          <a:xfrm>
            <a:off x="457200" y="2286000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8BBD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Women's Safety &amp; Empowerment Web Application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720340"/>
            <a:ext cx="5943600" cy="18973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C2185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" y="2907792"/>
            <a:ext cx="5669280" cy="1691640"/>
          </a:xfrm>
          <a:prstGeom prst="rect">
            <a:avLst/>
          </a:prstGeom>
          <a:noFill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8BBD0"/>
                </a:solidFill>
              </a:rPr>
              <a:t>PROJECT DETAILS</a:t>
            </a:r>
            <a:endParaRPr lang="en-US" sz="10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Project Name:  </a:t>
            </a:r>
            <a:r>
              <a:rPr lang="en-US" sz="1600" dirty="0">
                <a:solidFill>
                  <a:srgbClr val="F8BBD0"/>
                </a:solidFill>
              </a:rPr>
              <a:t>SHERISE – Empower &amp; Protect</a:t>
            </a:r>
            <a:endParaRPr lang="en-US" sz="1600" dirty="0">
              <a:solidFill>
                <a:srgbClr val="F8BBD0"/>
              </a:solidFill>
            </a:endParaRPr>
          </a:p>
          <a:p>
            <a:pPr marL="0" indent="0">
              <a:buNone/>
            </a:pPr>
            <a:r>
              <a:rPr lang="en-US" sz="1600" b="1" i="1" dirty="0">
                <a:solidFill>
                  <a:schemeClr val="bg1"/>
                </a:solidFill>
              </a:rPr>
              <a:t>Team Members</a:t>
            </a:r>
            <a:endParaRPr lang="en-US" sz="1600" b="1" i="1" dirty="0">
              <a:solidFill>
                <a:srgbClr val="F8BBD0"/>
              </a:solidFill>
            </a:endParaRPr>
          </a:p>
          <a:p>
            <a:r>
              <a:rPr lang="en-IN" altLang="en-US" sz="1400" b="1" dirty="0">
                <a:solidFill>
                  <a:srgbClr val="F8BBD0"/>
                </a:solidFill>
              </a:rPr>
              <a:t>Ch.Pooja        -2303A51186</a:t>
            </a:r>
            <a:endParaRPr lang="en-US" sz="1400" b="1" dirty="0">
              <a:solidFill>
                <a:srgbClr val="F8BBD0"/>
              </a:solidFill>
            </a:endParaRPr>
          </a:p>
          <a:p>
            <a:pPr marL="0" indent="0">
              <a:buNone/>
            </a:pPr>
            <a:r>
              <a:rPr lang="en-IN" altLang="en-US" sz="1400" b="1" dirty="0">
                <a:solidFill>
                  <a:srgbClr val="F8BBD0"/>
                </a:solidFill>
              </a:rPr>
              <a:t>Nishath</a:t>
            </a:r>
            <a:r>
              <a:rPr lang="en-US" sz="1400" b="1" dirty="0">
                <a:solidFill>
                  <a:srgbClr val="F8BBD0"/>
                </a:solidFill>
              </a:rPr>
              <a:t>      </a:t>
            </a:r>
            <a:r>
              <a:rPr lang="en-IN" altLang="en-US" sz="1400" b="1" dirty="0">
                <a:solidFill>
                  <a:srgbClr val="F8BBD0"/>
                </a:solidFill>
              </a:rPr>
              <a:t>    </a:t>
            </a:r>
            <a:r>
              <a:rPr lang="en-US" sz="1400" b="1" dirty="0">
                <a:solidFill>
                  <a:srgbClr val="F8BBD0"/>
                </a:solidFill>
              </a:rPr>
              <a:t>-2303A51</a:t>
            </a:r>
            <a:r>
              <a:rPr lang="en-IN" altLang="en-US" sz="1400" b="1" dirty="0">
                <a:solidFill>
                  <a:srgbClr val="F8BBD0"/>
                </a:solidFill>
              </a:rPr>
              <a:t>212</a:t>
            </a:r>
            <a:endParaRPr lang="en-US" sz="1400" b="1" dirty="0">
              <a:solidFill>
                <a:srgbClr val="F8BBD0"/>
              </a:solidFill>
            </a:endParaRPr>
          </a:p>
          <a:p>
            <a:pPr marL="0" indent="0">
              <a:buNone/>
            </a:pPr>
            <a:r>
              <a:rPr lang="en-IN" altLang="en-US" sz="1400" b="1" dirty="0">
                <a:solidFill>
                  <a:srgbClr val="F8BBD0"/>
                </a:solidFill>
              </a:rPr>
              <a:t>Vrahsitha      </a:t>
            </a:r>
            <a:r>
              <a:rPr lang="en-US" sz="1400" b="1" dirty="0">
                <a:solidFill>
                  <a:srgbClr val="F8BBD0"/>
                </a:solidFill>
              </a:rPr>
              <a:t> -2303A51</a:t>
            </a:r>
            <a:r>
              <a:rPr lang="en-IN" altLang="en-US" sz="1400" b="1" dirty="0">
                <a:solidFill>
                  <a:srgbClr val="F8BBD0"/>
                </a:solidFill>
              </a:rPr>
              <a:t>187</a:t>
            </a:r>
            <a:endParaRPr lang="en-US" sz="1400" b="1" dirty="0">
              <a:solidFill>
                <a:srgbClr val="F8BBD0"/>
              </a:solidFill>
            </a:endParaRPr>
          </a:p>
          <a:p>
            <a:r>
              <a:rPr lang="en-IN" altLang="en-US" sz="1400" b="1" dirty="0">
                <a:solidFill>
                  <a:srgbClr val="F8BBD0"/>
                </a:solidFill>
              </a:rPr>
              <a:t>Sriram        </a:t>
            </a:r>
            <a:r>
              <a:rPr lang="en-US" sz="1400" b="1" dirty="0">
                <a:solidFill>
                  <a:srgbClr val="F8BBD0"/>
                </a:solidFill>
              </a:rPr>
              <a:t>    -2303A51</a:t>
            </a:r>
            <a:r>
              <a:rPr lang="en-IN" altLang="en-US" sz="1400" b="1" dirty="0">
                <a:solidFill>
                  <a:srgbClr val="F8BBD0"/>
                </a:solidFill>
              </a:rPr>
              <a:t>191</a:t>
            </a:r>
            <a:endParaRPr lang="en-US" sz="1400" b="1" dirty="0">
              <a:solidFill>
                <a:srgbClr val="F8BBD0"/>
              </a:solidFill>
            </a:endParaRPr>
          </a:p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4A1942"/>
          </a:solidFill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5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686800" y="0"/>
            <a:ext cx="457200" cy="1005840"/>
          </a:xfrm>
          <a:prstGeom prst="rect">
            <a:avLst/>
          </a:prstGeom>
          <a:solidFill>
            <a:srgbClr val="C2185B"/>
          </a:solidFill>
        </p:spPr>
      </p:sp>
      <p:sp>
        <p:nvSpPr>
          <p:cNvPr id="5" name="Shape 3"/>
          <p:cNvSpPr/>
          <p:nvPr/>
        </p:nvSpPr>
        <p:spPr>
          <a:xfrm>
            <a:off x="320040" y="1143000"/>
            <a:ext cx="5486400" cy="1280160"/>
          </a:xfrm>
          <a:prstGeom prst="rect">
            <a:avLst/>
          </a:prstGeom>
          <a:solidFill>
            <a:srgbClr val="4A1942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188720"/>
            <a:ext cx="5212080" cy="1188720"/>
          </a:xfrm>
          <a:prstGeom prst="rect">
            <a:avLst/>
          </a:prstGeom>
          <a:noFill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BBD0"/>
                </a:solidFill>
              </a:rPr>
              <a:t>What is SHERISE?
</a:t>
            </a:r>
            <a:endParaRPr lang="en-US" sz="130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SHERISE is an women's safety and empowerment web application It provides a comprehensive digital hub for women to access emergency help, safety resources, community support, and self-defense knowledge.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115568"/>
            <a:ext cx="822960" cy="822960"/>
          </a:xfrm>
          <a:prstGeom prst="ellipse">
            <a:avLst/>
          </a:prstGeom>
          <a:solidFill>
            <a:srgbClr val="C2185B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09360" y="1115568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63640" y="1965960"/>
            <a:ext cx="914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Emergency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Alert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0" y="1115568"/>
            <a:ext cx="822960" cy="822960"/>
          </a:xfrm>
          <a:prstGeom prst="ellipse">
            <a:avLst/>
          </a:prstGeom>
          <a:solidFill>
            <a:srgbClr val="C2185B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0" y="1115568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GPS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269480" y="1965960"/>
            <a:ext cx="914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Live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Tracking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321040" y="1115568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AI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2578608"/>
            <a:ext cx="8503920" cy="36576"/>
          </a:xfrm>
          <a:prstGeom prst="rect">
            <a:avLst/>
          </a:prstGeom>
          <a:solidFill>
            <a:srgbClr val="C2185B"/>
          </a:solidFill>
        </p:spPr>
      </p:sp>
      <p:sp>
        <p:nvSpPr>
          <p:cNvPr id="17" name="Text 15"/>
          <p:cNvSpPr/>
          <p:nvPr/>
        </p:nvSpPr>
        <p:spPr>
          <a:xfrm>
            <a:off x="320040" y="2715307"/>
            <a:ext cx="8503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194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3063240"/>
            <a:ext cx="8321040" cy="173736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1E2E"/>
                </a:solidFill>
              </a:rPr>
              <a:t>Women face increasing threats of harassment, assault, and domestic violence globally.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1E2E"/>
                </a:solidFill>
              </a:rPr>
              <a:t>Lack of a centralized, easy-to-access digital platform for emergency resources and community support.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1E2E"/>
                </a:solidFill>
              </a:rPr>
              <a:t>SHERISE bridges this gap by combining AI technology with women-centric safety features in one web app.</a:t>
            </a:r>
            <a:endParaRPr lang="en-US" sz="1200" dirty="0">
              <a:solidFill>
                <a:srgbClr val="1E1E2E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200" dirty="0"/>
              <a:t>Existing emergency systems are reactive and slow; women need discreet, one-tap tools that work instantly on any device without app installation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/>
              <a:t>Fear of judgment and social stigma prevent women from seeking help openly — there is no safe digital space for sharing safety experiences.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C2185B"/>
          </a:solidFill>
        </p:spPr>
      </p:sp>
      <p:sp>
        <p:nvSpPr>
          <p:cNvPr id="3" name="Text 1"/>
          <p:cNvSpPr/>
          <p:nvPr/>
        </p:nvSpPr>
        <p:spPr>
          <a:xfrm>
            <a:off x="365760" y="0"/>
            <a:ext cx="87782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5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160520" cy="1097280"/>
          </a:xfrm>
          <a:prstGeom prst="rect">
            <a:avLst/>
          </a:prstGeom>
          <a:solidFill>
            <a:srgbClr val="F1F5F9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502920" cy="1097280"/>
          </a:xfrm>
          <a:prstGeom prst="rect">
            <a:avLst/>
          </a:prstGeom>
          <a:solidFill>
            <a:srgbClr val="4A1942"/>
          </a:solidFill>
        </p:spPr>
      </p:sp>
      <p:sp>
        <p:nvSpPr>
          <p:cNvPr id="6" name="Text 4"/>
          <p:cNvSpPr/>
          <p:nvPr/>
        </p:nvSpPr>
        <p:spPr>
          <a:xfrm>
            <a:off x="274320" y="1188720"/>
            <a:ext cx="5029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261872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1942"/>
                </a:solidFill>
              </a:rPr>
              <a:t>Emergency Assistance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554480"/>
            <a:ext cx="3474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Provide one-tap SOS alerts with GPS location sharing to trusted contacts and emergency services.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1188720"/>
            <a:ext cx="4160520" cy="1097280"/>
          </a:xfrm>
          <a:prstGeom prst="rect">
            <a:avLst/>
          </a:prstGeom>
          <a:solidFill>
            <a:srgbClr val="F1F5F9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188720"/>
            <a:ext cx="502920" cy="1097280"/>
          </a:xfrm>
          <a:prstGeom prst="rect">
            <a:avLst/>
          </a:prstGeom>
          <a:solidFill>
            <a:srgbClr val="4A1942"/>
          </a:solidFill>
        </p:spPr>
      </p:sp>
      <p:sp>
        <p:nvSpPr>
          <p:cNvPr id="11" name="Text 9"/>
          <p:cNvSpPr/>
          <p:nvPr/>
        </p:nvSpPr>
        <p:spPr>
          <a:xfrm>
            <a:off x="4709160" y="1188720"/>
            <a:ext cx="5029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03520" y="1261872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1942"/>
                </a:solidFill>
              </a:rPr>
              <a:t>Empower Women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03520" y="1554480"/>
            <a:ext cx="3474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Deliver self-defense tips, legal rights awareness, and motivational resources to build confidence.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450592"/>
            <a:ext cx="4160520" cy="1097280"/>
          </a:xfrm>
          <a:prstGeom prst="rect">
            <a:avLst/>
          </a:prstGeom>
          <a:solidFill>
            <a:srgbClr val="F1F5F9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450592"/>
            <a:ext cx="502920" cy="1097280"/>
          </a:xfrm>
          <a:prstGeom prst="rect">
            <a:avLst/>
          </a:prstGeom>
          <a:solidFill>
            <a:srgbClr val="4A1942"/>
          </a:solidFill>
        </p:spPr>
      </p:sp>
      <p:sp>
        <p:nvSpPr>
          <p:cNvPr id="16" name="Text 14"/>
          <p:cNvSpPr/>
          <p:nvPr/>
        </p:nvSpPr>
        <p:spPr>
          <a:xfrm>
            <a:off x="274320" y="2450592"/>
            <a:ext cx="5029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8680" y="2523744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1942"/>
                </a:solidFill>
              </a:rPr>
              <a:t>Community Support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2816352"/>
            <a:ext cx="3474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Create a safe digital space where women can share experiences, find peer support, and access help.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2450592"/>
            <a:ext cx="4160520" cy="1097280"/>
          </a:xfrm>
          <a:prstGeom prst="rect">
            <a:avLst/>
          </a:prstGeom>
          <a:solidFill>
            <a:srgbClr val="F1F5F9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450592"/>
            <a:ext cx="502920" cy="1097280"/>
          </a:xfrm>
          <a:prstGeom prst="rect">
            <a:avLst/>
          </a:prstGeom>
          <a:solidFill>
            <a:srgbClr val="4A1942"/>
          </a:solidFill>
        </p:spPr>
      </p:sp>
      <p:sp>
        <p:nvSpPr>
          <p:cNvPr id="21" name="Text 19"/>
          <p:cNvSpPr/>
          <p:nvPr/>
        </p:nvSpPr>
        <p:spPr>
          <a:xfrm>
            <a:off x="4709160" y="2450592"/>
            <a:ext cx="5029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03520" y="2523744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1942"/>
                </a:solidFill>
              </a:rPr>
              <a:t>Information Hub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03520" y="2816352"/>
            <a:ext cx="3474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Centralize helpline numbers, shelter locations, legal aid contacts, and crisis resources.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3712464"/>
            <a:ext cx="4160520" cy="1097280"/>
          </a:xfrm>
          <a:prstGeom prst="rect">
            <a:avLst/>
          </a:prstGeom>
          <a:solidFill>
            <a:srgbClr val="F1F5F9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712464"/>
            <a:ext cx="502920" cy="1097280"/>
          </a:xfrm>
          <a:prstGeom prst="rect">
            <a:avLst/>
          </a:prstGeom>
          <a:solidFill>
            <a:srgbClr val="4A1942"/>
          </a:solidFill>
        </p:spPr>
      </p:sp>
      <p:sp>
        <p:nvSpPr>
          <p:cNvPr id="26" name="Text 24"/>
          <p:cNvSpPr/>
          <p:nvPr/>
        </p:nvSpPr>
        <p:spPr>
          <a:xfrm>
            <a:off x="274320" y="3712464"/>
            <a:ext cx="5029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68680" y="3785616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1942"/>
                </a:solidFill>
              </a:rPr>
              <a:t>AI-Powered Experience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68680" y="4078224"/>
            <a:ext cx="3474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Leverage  AI chatbot to resolve your queries and guide you through  every step.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3712464"/>
            <a:ext cx="4160520" cy="1097280"/>
          </a:xfrm>
          <a:prstGeom prst="rect">
            <a:avLst/>
          </a:prstGeom>
          <a:solidFill>
            <a:srgbClr val="F1F5F9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3712464"/>
            <a:ext cx="502920" cy="1097280"/>
          </a:xfrm>
          <a:prstGeom prst="rect">
            <a:avLst/>
          </a:prstGeom>
          <a:solidFill>
            <a:srgbClr val="4A1942"/>
          </a:solidFill>
        </p:spPr>
      </p:sp>
      <p:sp>
        <p:nvSpPr>
          <p:cNvPr id="31" name="Text 29"/>
          <p:cNvSpPr/>
          <p:nvPr/>
        </p:nvSpPr>
        <p:spPr>
          <a:xfrm>
            <a:off x="4709160" y="3712464"/>
            <a:ext cx="5029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03520" y="3785616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1942"/>
                </a:solidFill>
              </a:rPr>
              <a:t>Accessibility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03520" y="4078224"/>
            <a:ext cx="3474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Ensure the platform is mobile-friendly, free-to-use, and accessible to women of all backgrounds.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4A1942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201168" cy="1005840"/>
          </a:xfrm>
          <a:prstGeom prst="rect">
            <a:avLst/>
          </a:prstGeom>
          <a:solidFill>
            <a:srgbClr val="C2185B"/>
          </a:solidFill>
        </p:spPr>
      </p:sp>
      <p:sp>
        <p:nvSpPr>
          <p:cNvPr id="4" name="Text 2"/>
          <p:cNvSpPr/>
          <p:nvPr/>
        </p:nvSpPr>
        <p:spPr>
          <a:xfrm>
            <a:off x="365760" y="0"/>
            <a:ext cx="87782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5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STAKEHOLDERS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2185B"/>
                </a:solidFill>
              </a:rPr>
              <a:t>For Whom Is SHERISE Built?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" y="1572768"/>
            <a:ext cx="20116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572768"/>
            <a:ext cx="2011680" cy="384048"/>
          </a:xfrm>
          <a:prstGeom prst="rect">
            <a:avLst/>
          </a:prstGeom>
          <a:solidFill>
            <a:srgbClr val="C2185B"/>
          </a:solidFill>
        </p:spPr>
      </p:sp>
      <p:sp>
        <p:nvSpPr>
          <p:cNvPr id="8" name="Text 6"/>
          <p:cNvSpPr/>
          <p:nvPr/>
        </p:nvSpPr>
        <p:spPr>
          <a:xfrm>
            <a:off x="274320" y="1572768"/>
            <a:ext cx="1920240" cy="384048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♀  Women &amp; Girls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01752" y="1993392"/>
            <a:ext cx="1874520" cy="1024128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Primary users — women of all ages seeking safety resources, emergency help, and community support.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23160" y="1572768"/>
            <a:ext cx="20116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23160" y="1572768"/>
            <a:ext cx="2011680" cy="384048"/>
          </a:xfrm>
          <a:prstGeom prst="rect">
            <a:avLst/>
          </a:prstGeom>
          <a:solidFill>
            <a:srgbClr val="C2185B"/>
          </a:solidFill>
        </p:spPr>
      </p:sp>
      <p:sp>
        <p:nvSpPr>
          <p:cNvPr id="12" name="Text 10"/>
          <p:cNvSpPr/>
          <p:nvPr/>
        </p:nvSpPr>
        <p:spPr>
          <a:xfrm>
            <a:off x="2468880" y="1572768"/>
            <a:ext cx="1920240" cy="384048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🏠  NGOs &amp; Shelters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96312" y="1993392"/>
            <a:ext cx="1874520" cy="1024128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Organizations providing refuge and support that can list resources on the platform.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17720" y="1572768"/>
            <a:ext cx="20116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1572768"/>
            <a:ext cx="2011680" cy="384048"/>
          </a:xfrm>
          <a:prstGeom prst="rect">
            <a:avLst/>
          </a:prstGeom>
          <a:solidFill>
            <a:srgbClr val="C2185B"/>
          </a:solidFill>
        </p:spPr>
      </p:sp>
      <p:sp>
        <p:nvSpPr>
          <p:cNvPr id="16" name="Text 14"/>
          <p:cNvSpPr/>
          <p:nvPr/>
        </p:nvSpPr>
        <p:spPr>
          <a:xfrm>
            <a:off x="4663440" y="1572768"/>
            <a:ext cx="1920240" cy="384048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⚖  Law Enforcement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90872" y="1993392"/>
            <a:ext cx="1874520" cy="1024128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Police and legal authorities notified via emergency alerts for rapid response.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812280" y="1572768"/>
            <a:ext cx="20116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12280" y="1572768"/>
            <a:ext cx="2011680" cy="384048"/>
          </a:xfrm>
          <a:prstGeom prst="rect">
            <a:avLst/>
          </a:prstGeom>
          <a:solidFill>
            <a:srgbClr val="C2185B"/>
          </a:solidFill>
        </p:spPr>
      </p:sp>
      <p:sp>
        <p:nvSpPr>
          <p:cNvPr id="20" name="Text 18"/>
          <p:cNvSpPr/>
          <p:nvPr/>
        </p:nvSpPr>
        <p:spPr>
          <a:xfrm>
            <a:off x="6858000" y="1572768"/>
            <a:ext cx="1920240" cy="384048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👨‍👩‍👧  Families &amp; Friends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85432" y="1993392"/>
            <a:ext cx="1874520" cy="1024128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Trusted contacts who receive SOS alerts and live location during emergencies.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28600" y="3218688"/>
            <a:ext cx="20116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28600" y="3218688"/>
            <a:ext cx="2011680" cy="384048"/>
          </a:xfrm>
          <a:prstGeom prst="rect">
            <a:avLst/>
          </a:prstGeom>
          <a:solidFill>
            <a:srgbClr val="C2185B"/>
          </a:solidFill>
        </p:spPr>
      </p:sp>
      <p:sp>
        <p:nvSpPr>
          <p:cNvPr id="24" name="Text 22"/>
          <p:cNvSpPr/>
          <p:nvPr/>
        </p:nvSpPr>
        <p:spPr>
          <a:xfrm>
            <a:off x="274320" y="3218688"/>
            <a:ext cx="1920240" cy="384048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🏥  Healthcare Workers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01752" y="3639312"/>
            <a:ext cx="1874520" cy="1024128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Medical professionals linked through crisis helplines and emergency resource listings.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423160" y="3218688"/>
            <a:ext cx="20116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423160" y="3218688"/>
            <a:ext cx="2011680" cy="384048"/>
          </a:xfrm>
          <a:prstGeom prst="rect">
            <a:avLst/>
          </a:prstGeom>
          <a:solidFill>
            <a:srgbClr val="C2185B"/>
          </a:solidFill>
        </p:spPr>
      </p:sp>
      <p:sp>
        <p:nvSpPr>
          <p:cNvPr id="28" name="Text 26"/>
          <p:cNvSpPr/>
          <p:nvPr/>
        </p:nvSpPr>
        <p:spPr>
          <a:xfrm>
            <a:off x="2468880" y="3218688"/>
            <a:ext cx="1920240" cy="384048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🎓  Educators &amp; Institutions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496312" y="3639312"/>
            <a:ext cx="1874520" cy="1024128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Schools, colleges using SHERISE for campus safety awareness and student protection.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17720" y="3218688"/>
            <a:ext cx="20116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17720" y="3218688"/>
            <a:ext cx="2011680" cy="384048"/>
          </a:xfrm>
          <a:prstGeom prst="rect">
            <a:avLst/>
          </a:prstGeom>
          <a:solidFill>
            <a:srgbClr val="C2185B"/>
          </a:solidFill>
        </p:spPr>
      </p:sp>
      <p:sp>
        <p:nvSpPr>
          <p:cNvPr id="32" name="Text 30"/>
          <p:cNvSpPr/>
          <p:nvPr/>
        </p:nvSpPr>
        <p:spPr>
          <a:xfrm>
            <a:off x="4663440" y="3218688"/>
            <a:ext cx="1920240" cy="384048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🏛  Government Bodies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690872" y="3639312"/>
            <a:ext cx="1874520" cy="1024128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Policymakers who benefit from aggregated safety data to shape women-centric legislation.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812280" y="3218688"/>
            <a:ext cx="20116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812280" y="3218688"/>
            <a:ext cx="2011680" cy="384048"/>
          </a:xfrm>
          <a:prstGeom prst="rect">
            <a:avLst/>
          </a:prstGeom>
          <a:solidFill>
            <a:srgbClr val="C2185B"/>
          </a:solidFill>
        </p:spPr>
      </p:sp>
      <p:sp>
        <p:nvSpPr>
          <p:cNvPr id="36" name="Text 34"/>
          <p:cNvSpPr/>
          <p:nvPr/>
        </p:nvSpPr>
        <p:spPr>
          <a:xfrm>
            <a:off x="6858000" y="3218688"/>
            <a:ext cx="1920240" cy="384048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💻  Tech Community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885432" y="3639312"/>
            <a:ext cx="1874520" cy="1024128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Developers and AI researchers advancing women's safety through ethical technology.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C2185B"/>
          </a:solidFill>
        </p:spPr>
      </p:sp>
      <p:sp>
        <p:nvSpPr>
          <p:cNvPr id="3" name="Text 1"/>
          <p:cNvSpPr/>
          <p:nvPr/>
        </p:nvSpPr>
        <p:spPr>
          <a:xfrm>
            <a:off x="365760" y="0"/>
            <a:ext cx="87782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PROGRAMMING LANGUAGES, TOOLS &amp; SOFTWARE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4160520" cy="1783080"/>
          </a:xfrm>
          <a:prstGeom prst="rect">
            <a:avLst/>
          </a:prstGeom>
          <a:solidFill>
            <a:srgbClr val="F1F5F9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4160520" cy="384048"/>
          </a:xfrm>
          <a:prstGeom prst="rect">
            <a:avLst/>
          </a:prstGeom>
          <a:solidFill>
            <a:srgbClr val="4A1942"/>
          </a:solidFill>
        </p:spPr>
      </p:sp>
      <p:sp>
        <p:nvSpPr>
          <p:cNvPr id="6" name="Text 4"/>
          <p:cNvSpPr/>
          <p:nvPr/>
        </p:nvSpPr>
        <p:spPr>
          <a:xfrm>
            <a:off x="384048" y="1143000"/>
            <a:ext cx="3931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Frontend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581912"/>
            <a:ext cx="3886200" cy="128016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1E2E"/>
                </a:solidFill>
              </a:rPr>
              <a:t>React.js – Component-based UI library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1E2E"/>
                </a:solidFill>
              </a:rPr>
              <a:t>TypeScript – Typed JavaScript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1E2E"/>
                </a:solidFill>
              </a:rPr>
              <a:t>HTML5 &amp; CSS3 – Structure &amp; Styling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1E2E"/>
                </a:solidFill>
              </a:rPr>
              <a:t>Tailwind CSS – Utility-first styling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143000"/>
            <a:ext cx="4160520" cy="1783080"/>
          </a:xfrm>
          <a:prstGeom prst="rect">
            <a:avLst/>
          </a:prstGeom>
          <a:solidFill>
            <a:srgbClr val="F1F5F9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43000"/>
            <a:ext cx="4160520" cy="384048"/>
          </a:xfrm>
          <a:prstGeom prst="rect">
            <a:avLst/>
          </a:prstGeom>
          <a:solidFill>
            <a:srgbClr val="C2185B"/>
          </a:solidFill>
        </p:spPr>
      </p:sp>
      <p:sp>
        <p:nvSpPr>
          <p:cNvPr id="10" name="Text 8"/>
          <p:cNvSpPr/>
          <p:nvPr/>
        </p:nvSpPr>
        <p:spPr>
          <a:xfrm>
            <a:off x="4818888" y="1143000"/>
            <a:ext cx="3931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Platform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581912"/>
            <a:ext cx="3886200" cy="128016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1E2E"/>
                </a:solidFill>
              </a:rPr>
              <a:t>Lovable.dev – AI-powered app builder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1E2E"/>
                </a:solidFill>
              </a:rPr>
              <a:t>Gemini / Claude AI – Prompt-to-code generation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1E2E"/>
                </a:solidFill>
              </a:rPr>
              <a:t>AI Chat Interface – Iterative development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1E2E"/>
                </a:solidFill>
              </a:rPr>
              <a:t>Natural Language Prompts – Code logic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063240"/>
            <a:ext cx="4160520" cy="1783080"/>
          </a:xfrm>
          <a:prstGeom prst="rect">
            <a:avLst/>
          </a:prstGeom>
          <a:solidFill>
            <a:srgbClr val="F1F5F9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063240"/>
            <a:ext cx="4160520" cy="384048"/>
          </a:xfrm>
          <a:prstGeom prst="rect">
            <a:avLst/>
          </a:prstGeom>
          <a:solidFill>
            <a:srgbClr val="7B1FA2"/>
          </a:solidFill>
        </p:spPr>
      </p:sp>
      <p:sp>
        <p:nvSpPr>
          <p:cNvPr id="14" name="Text 12"/>
          <p:cNvSpPr/>
          <p:nvPr/>
        </p:nvSpPr>
        <p:spPr>
          <a:xfrm>
            <a:off x="384048" y="3063240"/>
            <a:ext cx="3931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Backend / DB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" y="3502152"/>
            <a:ext cx="3886200" cy="128016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1E2E"/>
                </a:solidFill>
              </a:rPr>
              <a:t>Supabase – Backend-as-a-Service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1E2E"/>
                </a:solidFill>
              </a:rPr>
              <a:t>PostgreSQL – Relational database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1E2E"/>
                </a:solidFill>
              </a:rPr>
              <a:t>RESTful APIs – Data communication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1E2E"/>
                </a:solidFill>
              </a:rPr>
              <a:t>Authentication – Supabase Auth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3063240"/>
            <a:ext cx="4160520" cy="1783080"/>
          </a:xfrm>
          <a:prstGeom prst="rect">
            <a:avLst/>
          </a:prstGeom>
          <a:solidFill>
            <a:srgbClr val="F1F5F9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3063240"/>
            <a:ext cx="4160520" cy="384048"/>
          </a:xfrm>
          <a:prstGeom prst="rect">
            <a:avLst/>
          </a:prstGeom>
          <a:solidFill>
            <a:srgbClr val="1565C0"/>
          </a:solidFill>
        </p:spPr>
      </p:sp>
      <p:sp>
        <p:nvSpPr>
          <p:cNvPr id="18" name="Text 16"/>
          <p:cNvSpPr/>
          <p:nvPr/>
        </p:nvSpPr>
        <p:spPr>
          <a:xfrm>
            <a:off x="4818888" y="3063240"/>
            <a:ext cx="3931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Tools &amp; Deploy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3502152"/>
            <a:ext cx="3886200" cy="128016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1E2E"/>
                </a:solidFill>
              </a:rPr>
              <a:t>GitHub – Version control &amp; hosting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1E2E"/>
                </a:solidFill>
              </a:rPr>
              <a:t>Lovable Deploy – One-click deployment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1E2E"/>
                </a:solidFill>
              </a:rPr>
              <a:t>Browser DevTools – Debugging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1E2E"/>
                </a:solidFill>
              </a:rPr>
              <a:t>Figma – UI/UX wireframing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4A1942"/>
          </a:solidFill>
        </p:spPr>
      </p:sp>
      <p:sp>
        <p:nvSpPr>
          <p:cNvPr id="3" name="Shape 1"/>
          <p:cNvSpPr/>
          <p:nvPr/>
        </p:nvSpPr>
        <p:spPr>
          <a:xfrm>
            <a:off x="8686800" y="0"/>
            <a:ext cx="457200" cy="1005840"/>
          </a:xfrm>
          <a:prstGeom prst="rect">
            <a:avLst/>
          </a:prstGeom>
          <a:solidFill>
            <a:srgbClr val="C2185B"/>
          </a:solidFill>
        </p:spPr>
      </p:sp>
      <p:sp>
        <p:nvSpPr>
          <p:cNvPr id="4" name="Text 2"/>
          <p:cNvSpPr/>
          <p:nvPr/>
        </p:nvSpPr>
        <p:spPr>
          <a:xfrm>
            <a:off x="365760" y="0"/>
            <a:ext cx="87782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PROMPTS USED TO GENERATE CODE  |  Part 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8595360" cy="6858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15568"/>
            <a:ext cx="548640" cy="685800"/>
          </a:xfrm>
          <a:prstGeom prst="rect">
            <a:avLst/>
          </a:prstGeom>
          <a:solidFill>
            <a:srgbClr val="C2185B"/>
          </a:solidFill>
        </p:spPr>
      </p:sp>
      <p:sp>
        <p:nvSpPr>
          <p:cNvPr id="7" name="Text 5"/>
          <p:cNvSpPr/>
          <p:nvPr/>
        </p:nvSpPr>
        <p:spPr>
          <a:xfrm>
            <a:off x="274320" y="1115568"/>
            <a:ext cx="5486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32688" y="1371600"/>
            <a:ext cx="7818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E2E"/>
                </a:solidFill>
              </a:rPr>
              <a:t>Create a women's safety web app called SHERISE with a landing page featuring an emergency SOS button, navigation menu, and hero section with tagline 'Empower. Protect. Connect.'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1874520"/>
            <a:ext cx="8595360" cy="6858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874520"/>
            <a:ext cx="548640" cy="685800"/>
          </a:xfrm>
          <a:prstGeom prst="rect">
            <a:avLst/>
          </a:prstGeom>
          <a:solidFill>
            <a:srgbClr val="C2185B"/>
          </a:solidFill>
        </p:spPr>
      </p:sp>
      <p:sp>
        <p:nvSpPr>
          <p:cNvPr id="12" name="Text 10"/>
          <p:cNvSpPr/>
          <p:nvPr/>
        </p:nvSpPr>
        <p:spPr>
          <a:xfrm>
            <a:off x="274320" y="1874520"/>
            <a:ext cx="5486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2688" y="1911096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C2185B"/>
                </a:solidFill>
              </a:rPr>
              <a:t>[SOS &amp; GPS feature]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32688" y="2130552"/>
            <a:ext cx="7818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E2E"/>
                </a:solidFill>
              </a:rPr>
              <a:t>Add an SOS Emergency Alert feature where clicking a button shares the user's GPS location with pre-saved emergency contacts via a message notification system.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633472"/>
            <a:ext cx="8595360" cy="6858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633472"/>
            <a:ext cx="548640" cy="685800"/>
          </a:xfrm>
          <a:prstGeom prst="rect">
            <a:avLst/>
          </a:prstGeom>
          <a:solidFill>
            <a:srgbClr val="C2185B"/>
          </a:solidFill>
        </p:spPr>
      </p:sp>
      <p:sp>
        <p:nvSpPr>
          <p:cNvPr id="17" name="Text 15"/>
          <p:cNvSpPr/>
          <p:nvPr/>
        </p:nvSpPr>
        <p:spPr>
          <a:xfrm>
            <a:off x="274320" y="2633472"/>
            <a:ext cx="5486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32688" y="2889504"/>
            <a:ext cx="7818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E2E"/>
                </a:solidFill>
              </a:rPr>
              <a:t>Build a Resources section listing national women's helpline numbers, nearby shelter locations, legal aid contacts, and crisis support centers in a card layout.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392424"/>
            <a:ext cx="8595360" cy="6858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392424"/>
            <a:ext cx="548640" cy="685800"/>
          </a:xfrm>
          <a:prstGeom prst="rect">
            <a:avLst/>
          </a:prstGeom>
          <a:solidFill>
            <a:srgbClr val="C2185B"/>
          </a:solidFill>
        </p:spPr>
      </p:sp>
      <p:sp>
        <p:nvSpPr>
          <p:cNvPr id="22" name="Text 20"/>
          <p:cNvSpPr/>
          <p:nvPr/>
        </p:nvSpPr>
        <p:spPr>
          <a:xfrm>
            <a:off x="274320" y="3392424"/>
            <a:ext cx="5486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32688" y="342900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C2185B"/>
                </a:solidFill>
              </a:rPr>
              <a:t>[Community forum]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32688" y="3648456"/>
            <a:ext cx="7818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E2E"/>
                </a:solidFill>
              </a:rPr>
              <a:t>Create a Community Forum page where users can post stories, share safety tips, comment, and upvote posts – with user authentication using Supabase.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4151376"/>
            <a:ext cx="8595360" cy="6858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4151376"/>
            <a:ext cx="548640" cy="685800"/>
          </a:xfrm>
          <a:prstGeom prst="rect">
            <a:avLst/>
          </a:prstGeom>
          <a:solidFill>
            <a:srgbClr val="C2185B"/>
          </a:solidFill>
        </p:spPr>
      </p:sp>
      <p:sp>
        <p:nvSpPr>
          <p:cNvPr id="27" name="Text 25"/>
          <p:cNvSpPr/>
          <p:nvPr/>
        </p:nvSpPr>
        <p:spPr>
          <a:xfrm>
            <a:off x="274320" y="4151376"/>
            <a:ext cx="5486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32688" y="418795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C2185B"/>
                </a:solidFill>
              </a:rPr>
              <a:t>[Self-defense content]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32688" y="4407408"/>
            <a:ext cx="7818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E2E"/>
                </a:solidFill>
              </a:rPr>
              <a:t>Design a Self-Defense Tips page with categorized safety tips, step-by-step guides, and embedded video resource links for women's personal safety training.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4A1942"/>
          </a:solidFill>
        </p:spPr>
      </p:sp>
      <p:sp>
        <p:nvSpPr>
          <p:cNvPr id="3" name="Shape 1"/>
          <p:cNvSpPr/>
          <p:nvPr/>
        </p:nvSpPr>
        <p:spPr>
          <a:xfrm>
            <a:off x="8686800" y="0"/>
            <a:ext cx="457200" cy="1005840"/>
          </a:xfrm>
          <a:prstGeom prst="rect">
            <a:avLst/>
          </a:prstGeom>
          <a:solidFill>
            <a:srgbClr val="C2185B"/>
          </a:solidFill>
        </p:spPr>
      </p:sp>
      <p:sp>
        <p:nvSpPr>
          <p:cNvPr id="4" name="Text 2"/>
          <p:cNvSpPr/>
          <p:nvPr/>
        </p:nvSpPr>
        <p:spPr>
          <a:xfrm>
            <a:off x="365760" y="0"/>
            <a:ext cx="87782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PROMPTS USED TO GENERATE CODE  |  Part 2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8595360" cy="6858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15568"/>
            <a:ext cx="548640" cy="685800"/>
          </a:xfrm>
          <a:prstGeom prst="rect">
            <a:avLst/>
          </a:prstGeom>
          <a:solidFill>
            <a:srgbClr val="4A1942"/>
          </a:solidFill>
        </p:spPr>
      </p:sp>
      <p:sp>
        <p:nvSpPr>
          <p:cNvPr id="7" name="Text 5"/>
          <p:cNvSpPr/>
          <p:nvPr/>
        </p:nvSpPr>
        <p:spPr>
          <a:xfrm>
            <a:off x="274320" y="1115568"/>
            <a:ext cx="5486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32688" y="1152144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4A1942"/>
                </a:solidFill>
              </a:rPr>
              <a:t>[Auth &amp; user profile]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32688" y="1371600"/>
            <a:ext cx="7818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E2E"/>
                </a:solidFill>
              </a:rPr>
              <a:t>Add a user authentication system with login/signup pages, protected routes, and user profile dashboard showing their saved emergency contacts and activity.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1874520"/>
            <a:ext cx="8595360" cy="6858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874520"/>
            <a:ext cx="548640" cy="685800"/>
          </a:xfrm>
          <a:prstGeom prst="rect">
            <a:avLst/>
          </a:prstGeom>
          <a:solidFill>
            <a:srgbClr val="4A1942"/>
          </a:solidFill>
        </p:spPr>
      </p:sp>
      <p:sp>
        <p:nvSpPr>
          <p:cNvPr id="12" name="Text 10"/>
          <p:cNvSpPr/>
          <p:nvPr/>
        </p:nvSpPr>
        <p:spPr>
          <a:xfrm>
            <a:off x="274320" y="1874520"/>
            <a:ext cx="5486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P7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2688" y="1911096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4A1942"/>
                </a:solidFill>
              </a:rPr>
              <a:t>[Mobile responsiveness]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32688" y="2130552"/>
            <a:ext cx="7818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E2E"/>
                </a:solidFill>
              </a:rPr>
              <a:t>Make the entire app mobile-responsive using Tailwind CSS with hamburger menu navigation, responsive card grids, and touch-friendly SOS button.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633472"/>
            <a:ext cx="8595360" cy="6858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633472"/>
            <a:ext cx="548640" cy="685800"/>
          </a:xfrm>
          <a:prstGeom prst="rect">
            <a:avLst/>
          </a:prstGeom>
          <a:solidFill>
            <a:srgbClr val="4A1942"/>
          </a:solidFill>
        </p:spPr>
      </p:sp>
      <p:sp>
        <p:nvSpPr>
          <p:cNvPr id="17" name="Text 15"/>
          <p:cNvSpPr/>
          <p:nvPr/>
        </p:nvSpPr>
        <p:spPr>
          <a:xfrm>
            <a:off x="274320" y="2633472"/>
            <a:ext cx="5486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P8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32688" y="2670048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4A1942"/>
                </a:solidFill>
              </a:rPr>
              <a:t>[UI theming]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32688" y="2889504"/>
            <a:ext cx="7818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E2E"/>
                </a:solidFill>
              </a:rPr>
              <a:t>Integrate a dark/light mode toggle and apply a consistent purple-rose color theme throughout all pages for SHERISE branding.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392424"/>
            <a:ext cx="8595360" cy="6858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392424"/>
            <a:ext cx="548640" cy="685800"/>
          </a:xfrm>
          <a:prstGeom prst="rect">
            <a:avLst/>
          </a:prstGeom>
          <a:solidFill>
            <a:srgbClr val="4A1942"/>
          </a:solidFill>
        </p:spPr>
      </p:sp>
      <p:sp>
        <p:nvSpPr>
          <p:cNvPr id="22" name="Text 20"/>
          <p:cNvSpPr/>
          <p:nvPr/>
        </p:nvSpPr>
        <p:spPr>
          <a:xfrm>
            <a:off x="274320" y="3392424"/>
            <a:ext cx="5486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P9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32688" y="342900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4A1942"/>
                </a:solidFill>
              </a:rPr>
              <a:t>[Footer design]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32688" y="3648456"/>
            <a:ext cx="7818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E2E"/>
                </a:solidFill>
              </a:rPr>
              <a:t>Create a footer with social media links, about section, privacy policy link, and emergency contacts hotline prominently displayed.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4151376"/>
            <a:ext cx="8595360" cy="6858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4151376"/>
            <a:ext cx="548640" cy="685800"/>
          </a:xfrm>
          <a:prstGeom prst="rect">
            <a:avLst/>
          </a:prstGeom>
          <a:solidFill>
            <a:srgbClr val="4A1942"/>
          </a:solidFill>
        </p:spPr>
      </p:sp>
      <p:sp>
        <p:nvSpPr>
          <p:cNvPr id="27" name="Text 25"/>
          <p:cNvSpPr/>
          <p:nvPr/>
        </p:nvSpPr>
        <p:spPr>
          <a:xfrm>
            <a:off x="274320" y="4151376"/>
            <a:ext cx="5486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P10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32688" y="418795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4A1942"/>
                </a:solidFill>
              </a:rPr>
              <a:t>[Deployment &amp; GitHub]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32688" y="4407408"/>
            <a:ext cx="7818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E2E"/>
                </a:solidFill>
              </a:rPr>
              <a:t>Deploy the app to a public URL using Lovable's built-in deployment and connect it to a GitHub repository for version control and code backup.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29718"/>
            <a:ext cx="9144000" cy="1005840"/>
          </a:xfrm>
          <a:prstGeom prst="rect">
            <a:avLst/>
          </a:prstGeom>
          <a:solidFill>
            <a:srgbClr val="C2185B"/>
          </a:solidFill>
        </p:spPr>
      </p:sp>
      <p:sp>
        <p:nvSpPr>
          <p:cNvPr id="3" name="Text 1"/>
          <p:cNvSpPr/>
          <p:nvPr/>
        </p:nvSpPr>
        <p:spPr>
          <a:xfrm>
            <a:off x="365760" y="0"/>
            <a:ext cx="87782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5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WORKFLOW FLOWCHART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3474720" cy="685800"/>
          </a:xfrm>
          <a:prstGeom prst="rect">
            <a:avLst/>
          </a:prstGeom>
          <a:solidFill>
            <a:srgbClr val="4A1942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15568"/>
            <a:ext cx="34747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User visits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SHERISE website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3474720" cy="685800"/>
          </a:xfrm>
          <a:prstGeom prst="rect">
            <a:avLst/>
          </a:prstGeom>
          <a:solidFill>
            <a:srgbClr val="7B1FA2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965960"/>
            <a:ext cx="34747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Sign Up /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Login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816352"/>
            <a:ext cx="3474720" cy="685800"/>
          </a:xfrm>
          <a:prstGeom prst="rect">
            <a:avLst/>
          </a:prstGeom>
          <a:solidFill>
            <a:srgbClr val="C2185B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816352"/>
            <a:ext cx="34747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Dashboard: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Choose Feature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666744"/>
            <a:ext cx="3474720" cy="685800"/>
          </a:xfrm>
          <a:prstGeom prst="rect">
            <a:avLst/>
          </a:prstGeom>
          <a:solidFill>
            <a:srgbClr val="D81B60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3666744"/>
            <a:ext cx="34747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SOS Alert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(GPS + Contacts)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0" y="1115568"/>
            <a:ext cx="3474720" cy="685800"/>
          </a:xfrm>
          <a:prstGeom prst="rect">
            <a:avLst/>
          </a:prstGeom>
          <a:solidFill>
            <a:srgbClr val="1565C0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0" y="1115568"/>
            <a:ext cx="34747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AI Prompt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entered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0" y="1965960"/>
            <a:ext cx="3474720" cy="685800"/>
          </a:xfrm>
          <a:prstGeom prst="rect">
            <a:avLst/>
          </a:prstGeom>
          <a:solidFill>
            <a:srgbClr val="0277BD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0" y="1965960"/>
            <a:ext cx="34747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Lovable.dev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generates code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0" y="2816352"/>
            <a:ext cx="3474720" cy="685800"/>
          </a:xfrm>
          <a:prstGeom prst="rect">
            <a:avLst/>
          </a:prstGeom>
          <a:solidFill>
            <a:srgbClr val="00695C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0" y="2816352"/>
            <a:ext cx="34747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Code reviewed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&amp; refined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3666744"/>
            <a:ext cx="3474720" cy="685800"/>
          </a:xfrm>
          <a:prstGeom prst="rect">
            <a:avLst/>
          </a:prstGeom>
          <a:solidFill>
            <a:srgbClr val="2E7D32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0" y="3666744"/>
            <a:ext cx="34747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Deployed via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Lovable + GitHub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194560" y="1801368"/>
            <a:ext cx="0" cy="164592"/>
          </a:xfrm>
          <a:prstGeom prst="line">
            <a:avLst/>
          </a:prstGeom>
          <a:noFill/>
          <a:ln w="25400">
            <a:solidFill>
              <a:srgbClr val="4A194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94560" y="2651760"/>
            <a:ext cx="0" cy="164592"/>
          </a:xfrm>
          <a:prstGeom prst="line">
            <a:avLst/>
          </a:prstGeom>
          <a:noFill/>
          <a:ln w="25400">
            <a:solidFill>
              <a:srgbClr val="4A194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94560" y="3502152"/>
            <a:ext cx="0" cy="164592"/>
          </a:xfrm>
          <a:prstGeom prst="line">
            <a:avLst/>
          </a:prstGeom>
          <a:noFill/>
          <a:ln w="25400">
            <a:solidFill>
              <a:srgbClr val="4A194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66560" y="1801368"/>
            <a:ext cx="0" cy="164592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66560" y="2651760"/>
            <a:ext cx="0" cy="164592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66560" y="3502152"/>
            <a:ext cx="0" cy="164592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1033272"/>
            <a:ext cx="3840480" cy="137160"/>
          </a:xfrm>
          <a:prstGeom prst="rect">
            <a:avLst/>
          </a:prstGeom>
          <a:solidFill>
            <a:srgbClr val="4A1942"/>
          </a:solidFill>
        </p:spPr>
      </p:sp>
      <p:sp>
        <p:nvSpPr>
          <p:cNvPr id="27" name="Text 25"/>
          <p:cNvSpPr/>
          <p:nvPr/>
        </p:nvSpPr>
        <p:spPr>
          <a:xfrm>
            <a:off x="274320" y="1101852"/>
            <a:ext cx="3840480" cy="822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FFFFF"/>
                </a:solidFill>
              </a:rPr>
              <a:t>USER JOURNEY</a:t>
            </a:r>
            <a:endParaRPr lang="en-US" sz="1400" b="1" i="1" dirty="0"/>
          </a:p>
        </p:txBody>
      </p:sp>
      <p:sp>
        <p:nvSpPr>
          <p:cNvPr id="28" name="Shape 26"/>
          <p:cNvSpPr/>
          <p:nvPr/>
        </p:nvSpPr>
        <p:spPr>
          <a:xfrm>
            <a:off x="4846320" y="1033272"/>
            <a:ext cx="3840480" cy="82296"/>
          </a:xfrm>
          <a:prstGeom prst="rect">
            <a:avLst/>
          </a:prstGeom>
          <a:solidFill>
            <a:srgbClr val="1565C0"/>
          </a:solidFill>
        </p:spPr>
      </p:sp>
      <p:sp>
        <p:nvSpPr>
          <p:cNvPr id="29" name="Text 27"/>
          <p:cNvSpPr/>
          <p:nvPr/>
        </p:nvSpPr>
        <p:spPr>
          <a:xfrm>
            <a:off x="4846320" y="1077468"/>
            <a:ext cx="384048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FFFFF"/>
                </a:solidFill>
              </a:rPr>
              <a:t>DEVELOPMENT WORKFLOW</a:t>
            </a:r>
            <a:endParaRPr lang="en-US" sz="1400" b="1" i="1" dirty="0"/>
          </a:p>
        </p:txBody>
      </p:sp>
      <p:sp>
        <p:nvSpPr>
          <p:cNvPr id="30" name="Shape 28"/>
          <p:cNvSpPr/>
          <p:nvPr/>
        </p:nvSpPr>
        <p:spPr>
          <a:xfrm>
            <a:off x="274320" y="4434840"/>
            <a:ext cx="8595360" cy="548640"/>
          </a:xfrm>
          <a:prstGeom prst="rect">
            <a:avLst/>
          </a:prstGeom>
          <a:solidFill>
            <a:srgbClr val="F1F5F9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65760" y="4434840"/>
            <a:ext cx="8412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Also Accessed: Resources Hub  →  Community Forum  →  Self-Defense Tips  →  Legal Rights Info  →  Helplines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4A1942"/>
          </a:solidFill>
        </p:spPr>
      </p:sp>
      <p:sp>
        <p:nvSpPr>
          <p:cNvPr id="101" name="TextBox 100"/>
          <p:cNvSpPr txBox="1"/>
          <p:nvPr/>
        </p:nvSpPr>
        <p:spPr>
          <a:xfrm>
            <a:off x="92208" y="215153"/>
            <a:ext cx="882895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Georgia" panose="02040502050405020303" pitchFamily="34" charset="0"/>
              </a:rPr>
              <a:t>FRONT-END VIEW OF WEB APPLICATION</a:t>
            </a:r>
            <a:endParaRPr lang="en-US" sz="2400" b="1" dirty="0">
              <a:solidFill>
                <a:schemeClr val="bg1"/>
              </a:solidFill>
              <a:latin typeface="Georgia" panose="02040502050405020303" pitchFamily="34" charset="0"/>
            </a:endParaRPr>
          </a:p>
          <a:p>
            <a:br>
              <a:rPr lang="en-US" b="1" dirty="0"/>
            </a:br>
            <a:endParaRPr lang="en-US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0754" y="1062213"/>
            <a:ext cx="8451862" cy="386613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C2185B"/>
          </a:solidFill>
        </p:spPr>
      </p:sp>
      <p:sp>
        <p:nvSpPr>
          <p:cNvPr id="3" name="Text 1"/>
          <p:cNvSpPr/>
          <p:nvPr/>
        </p:nvSpPr>
        <p:spPr>
          <a:xfrm>
            <a:off x="365760" y="0"/>
            <a:ext cx="87782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PROOF OF PROMPTS GENERATING CODE  (Screenshots)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627632"/>
            <a:ext cx="4251960" cy="1572768"/>
          </a:xfrm>
          <a:prstGeom prst="rect">
            <a:avLst/>
          </a:prstGeom>
          <a:solidFill>
            <a:srgbClr val="F1F5F9"/>
          </a:solidFill>
          <a:ln w="190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627632"/>
            <a:ext cx="4251960" cy="274320"/>
          </a:xfrm>
          <a:prstGeom prst="rect">
            <a:avLst/>
          </a:prstGeom>
          <a:solidFill>
            <a:srgbClr val="4A1942"/>
          </a:solidFill>
        </p:spPr>
        <p:txBody>
          <a:bodyPr/>
          <a:lstStyle/>
          <a:p>
            <a:endParaRPr lang="en-IN" dirty="0"/>
          </a:p>
        </p:txBody>
      </p:sp>
      <p:sp>
        <p:nvSpPr>
          <p:cNvPr id="8" name="Text 6"/>
          <p:cNvSpPr/>
          <p:nvPr/>
        </p:nvSpPr>
        <p:spPr>
          <a:xfrm>
            <a:off x="347472" y="1627632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Screenshot 1: Prompt Input in Sherise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74320" y="1901952"/>
            <a:ext cx="4251960" cy="1298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4A3B8"/>
                </a:solidFill>
              </a:rPr>
              <a:t>[ INSERT SCREENSHOT HERE ]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17720" y="1627632"/>
            <a:ext cx="4251960" cy="1572768"/>
          </a:xfrm>
          <a:prstGeom prst="rect">
            <a:avLst/>
          </a:prstGeom>
          <a:solidFill>
            <a:srgbClr val="F1F5F9"/>
          </a:solidFill>
          <a:ln w="190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1" name="Shape 9"/>
          <p:cNvSpPr/>
          <p:nvPr/>
        </p:nvSpPr>
        <p:spPr>
          <a:xfrm>
            <a:off x="4617720" y="1627632"/>
            <a:ext cx="4251960" cy="274320"/>
          </a:xfrm>
          <a:prstGeom prst="rect">
            <a:avLst/>
          </a:prstGeom>
          <a:solidFill>
            <a:srgbClr val="4A1942"/>
          </a:solidFill>
        </p:spPr>
      </p:sp>
      <p:sp>
        <p:nvSpPr>
          <p:cNvPr id="12" name="Text 10"/>
          <p:cNvSpPr/>
          <p:nvPr/>
        </p:nvSpPr>
        <p:spPr>
          <a:xfrm>
            <a:off x="4690872" y="1627632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Screenshot 2: Connection of backend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617720" y="1901952"/>
            <a:ext cx="4251960" cy="1298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4A3B8"/>
                </a:solidFill>
              </a:rPr>
              <a:t>[ INSERT SCREENSHOT HERE ]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337560"/>
            <a:ext cx="4251960" cy="1572768"/>
          </a:xfrm>
          <a:prstGeom prst="rect">
            <a:avLst/>
          </a:prstGeom>
          <a:solidFill>
            <a:srgbClr val="F1F5F9"/>
          </a:solidFill>
          <a:ln w="190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337560"/>
            <a:ext cx="4251960" cy="274320"/>
          </a:xfrm>
          <a:prstGeom prst="rect">
            <a:avLst/>
          </a:prstGeom>
          <a:solidFill>
            <a:srgbClr val="4A1942"/>
          </a:solidFill>
        </p:spPr>
        <p:txBody>
          <a:bodyPr/>
          <a:lstStyle/>
          <a:p>
            <a:endParaRPr lang="en-IN" dirty="0"/>
          </a:p>
        </p:txBody>
      </p:sp>
      <p:sp>
        <p:nvSpPr>
          <p:cNvPr id="16" name="Text 14"/>
          <p:cNvSpPr/>
          <p:nvPr/>
        </p:nvSpPr>
        <p:spPr>
          <a:xfrm>
            <a:off x="347472" y="333756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Screenshot 3: Live Location prompt and code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74320" y="3611880"/>
            <a:ext cx="4251960" cy="1298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4A3B8"/>
                </a:solidFill>
              </a:rPr>
              <a:t>[ INSERT SCREENSHOT HERE ]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17720" y="3337560"/>
            <a:ext cx="4251960" cy="1572768"/>
          </a:xfrm>
          <a:prstGeom prst="rect">
            <a:avLst/>
          </a:prstGeom>
          <a:solidFill>
            <a:srgbClr val="F1F5F9"/>
          </a:solidFill>
          <a:ln w="190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17720" y="3337560"/>
            <a:ext cx="4251960" cy="274320"/>
          </a:xfrm>
          <a:prstGeom prst="rect">
            <a:avLst/>
          </a:prstGeom>
          <a:solidFill>
            <a:srgbClr val="4A1942"/>
          </a:solidFill>
        </p:spPr>
        <p:txBody>
          <a:bodyPr/>
          <a:lstStyle/>
          <a:p>
            <a:endParaRPr lang="en-IN" dirty="0"/>
          </a:p>
        </p:txBody>
      </p:sp>
      <p:sp>
        <p:nvSpPr>
          <p:cNvPr id="20" name="Text 18"/>
          <p:cNvSpPr/>
          <p:nvPr/>
        </p:nvSpPr>
        <p:spPr>
          <a:xfrm>
            <a:off x="4690872" y="333756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Screenshot 4: Scholarships &amp; jobs code and prompt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617720" y="3611880"/>
            <a:ext cx="4251960" cy="1298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4A3B8"/>
                </a:solidFill>
              </a:rPr>
              <a:t>[ INSERT SCREENSHOT HERE ]</a:t>
            </a:r>
            <a:endParaRPr lang="en-US" sz="1300" dirty="0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324" y="1942333"/>
            <a:ext cx="4187952" cy="1258067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872" y="1931911"/>
            <a:ext cx="4146804" cy="1218524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24" y="3660915"/>
            <a:ext cx="4187952" cy="1200378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872" y="3611880"/>
            <a:ext cx="4114800" cy="124941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19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474720"/>
            <a:ext cx="3657600" cy="3657600"/>
          </a:xfrm>
          <a:prstGeom prst="ellipse">
            <a:avLst/>
          </a:prstGeom>
          <a:solidFill>
            <a:srgbClr val="5D1B4B"/>
          </a:solidFill>
          <a:ln w="12700">
            <a:solidFill>
              <a:srgbClr val="5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914400"/>
            <a:ext cx="2743200" cy="2743200"/>
          </a:xfrm>
          <a:prstGeom prst="ellipse">
            <a:avLst/>
          </a:prstGeom>
          <a:solidFill>
            <a:srgbClr val="5D1B4B"/>
          </a:solidFill>
          <a:ln w="12700">
            <a:solidFill>
              <a:srgbClr val="5D1B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2185B"/>
          </a:solidFill>
        </p:spPr>
      </p:sp>
      <p:sp>
        <p:nvSpPr>
          <p:cNvPr id="5" name="Text 3"/>
          <p:cNvSpPr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6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REFERENCES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5486400" cy="36576"/>
          </a:xfrm>
          <a:prstGeom prst="rect">
            <a:avLst/>
          </a:prstGeom>
          <a:solidFill>
            <a:srgbClr val="C2185B"/>
          </a:solidFill>
        </p:spPr>
      </p:sp>
      <p:sp>
        <p:nvSpPr>
          <p:cNvPr id="7" name="Text 5"/>
          <p:cNvSpPr/>
          <p:nvPr/>
        </p:nvSpPr>
        <p:spPr>
          <a:xfrm>
            <a:off x="457200" y="1005840"/>
            <a:ext cx="8412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[1] Lovable.dev – AI-powered app development platform. </a:t>
            </a:r>
            <a:r>
              <a:rPr lang="en-US" sz="1050" dirty="0">
                <a:solidFill>
                  <a:srgbClr val="FFFFFF"/>
                </a:solidFill>
                <a:hlinkClick r:id="rId1"/>
              </a:rPr>
              <a:t>https://lovable.dev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389888"/>
            <a:ext cx="8412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BBD0"/>
                </a:solidFill>
              </a:rPr>
              <a:t>[2] Supabase – Open Source Firebase Alternative</a:t>
            </a:r>
            <a:r>
              <a:rPr lang="en-US" sz="1050" dirty="0">
                <a:solidFill>
                  <a:srgbClr val="F8BBD0"/>
                </a:solidFill>
                <a:hlinkClick r:id="rId2"/>
              </a:rPr>
              <a:t>. https://supabase.com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1773936"/>
            <a:ext cx="8412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[3] React.js – A JavaScript library for building user interfaces</a:t>
            </a:r>
            <a:r>
              <a:rPr lang="en-US" sz="1050" dirty="0">
                <a:solidFill>
                  <a:srgbClr val="FFFFFF"/>
                </a:solidFill>
                <a:hlinkClick r:id="rId3"/>
              </a:rPr>
              <a:t>. https://reactjs.org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157984"/>
            <a:ext cx="8412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BBD0"/>
                </a:solidFill>
              </a:rPr>
              <a:t>[4] Tailwind CSS – A utility-first CSS framework. </a:t>
            </a:r>
            <a:r>
              <a:rPr lang="en-US" sz="1050" dirty="0">
                <a:solidFill>
                  <a:srgbClr val="F8BBD0"/>
                </a:solidFill>
                <a:hlinkClick r:id="rId4"/>
              </a:rPr>
              <a:t>https://tailwindcss.com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542032"/>
            <a:ext cx="8412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[5] Patel, A. &amp; Gupta, R. (2020). Exploring Mobile Safety Apps for Women. Journal of Womens Safety Tech.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2926080"/>
            <a:ext cx="8412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BBD0"/>
                </a:solidFill>
              </a:rPr>
              <a:t>[6] National Commission for Women, India – Women Helpline 181</a:t>
            </a:r>
            <a:r>
              <a:rPr lang="en-US" sz="1050" dirty="0">
                <a:solidFill>
                  <a:srgbClr val="F8BBD0"/>
                </a:solidFill>
                <a:hlinkClick r:id="rId5"/>
              </a:rPr>
              <a:t>. https://ncw.nic.in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3310128"/>
            <a:ext cx="8412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[7] GitHub – Version control and code hosting</a:t>
            </a:r>
            <a:r>
              <a:rPr lang="en-US" sz="1050" dirty="0">
                <a:solidFill>
                  <a:srgbClr val="FFFFFF"/>
                </a:solidFill>
                <a:hlinkClick r:id="rId6"/>
              </a:rPr>
              <a:t>. https://github.com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3694176"/>
            <a:ext cx="8412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BBD0"/>
                </a:solidFill>
              </a:rPr>
              <a:t>[8] IRJMETS (2024). EMPOWER HER: Women Safety Hub. Vol. 6, Issue 6.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4078224"/>
            <a:ext cx="8412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[9] TypeScript – Typed JavaScript. </a:t>
            </a:r>
            <a:r>
              <a:rPr lang="en-US" sz="1050" dirty="0">
                <a:solidFill>
                  <a:srgbClr val="FFFFFF"/>
                </a:solidFill>
                <a:hlinkClick r:id="rId7"/>
              </a:rPr>
              <a:t>https://www.typescriptlang.org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4462272"/>
            <a:ext cx="8412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BBD0"/>
                </a:solidFill>
              </a:rPr>
              <a:t>[10] SHERISE App URL: </a:t>
            </a:r>
            <a:r>
              <a:rPr lang="en-US" sz="1050" dirty="0">
                <a:solidFill>
                  <a:srgbClr val="F8BBD0"/>
                </a:solidFill>
                <a:hlinkClick r:id="rId8"/>
              </a:rPr>
              <a:t>https://sherise-empower-protect.lovable.app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C2185B"/>
          </a:solidFill>
        </p:spPr>
      </p:sp>
      <p:sp>
        <p:nvSpPr>
          <p:cNvPr id="18" name="Text 16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SHERISE  ·  Empower. Protect. Connect.  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5"/>
          <p:cNvSpPr/>
          <p:nvPr/>
        </p:nvSpPr>
        <p:spPr>
          <a:xfrm>
            <a:off x="0" y="2420471"/>
            <a:ext cx="9144000" cy="2723029"/>
          </a:xfrm>
          <a:prstGeom prst="rect">
            <a:avLst/>
          </a:prstGeom>
          <a:solidFill>
            <a:srgbClr val="C2185B"/>
          </a:solidFill>
        </p:spPr>
        <p:txBody>
          <a:bodyPr/>
          <a:lstStyle/>
          <a:p>
            <a:endParaRPr lang="en-IN" dirty="0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9144000" cy="2425753"/>
          </a:xfrm>
          <a:prstGeom prst="rect">
            <a:avLst/>
          </a:prstGeom>
          <a:solidFill>
            <a:srgbClr val="5723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7200" i="1" dirty="0">
              <a:latin typeface="Brush Script MT" panose="03060802040406070304" pitchFamily="66" charset="0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2205318" y="1361514"/>
            <a:ext cx="4326110" cy="2128478"/>
          </a:xfrm>
          <a:prstGeom prst="ellipse">
            <a:avLst/>
          </a:prstGeom>
          <a:solidFill>
            <a:srgbClr val="753368"/>
          </a:solidFill>
          <a:ln>
            <a:solidFill>
              <a:srgbClr val="75336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800" i="1" dirty="0">
                <a:latin typeface="Brush Script MT" panose="03060802040406070304" pitchFamily="66" charset="0"/>
              </a:rPr>
              <a:t>Thank you!!</a:t>
            </a:r>
            <a:endParaRPr lang="en-IN" sz="4800" i="1" dirty="0">
              <a:latin typeface="Brush Script MT" panose="03060802040406070304" pitchFamily="66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29553" y="3489992"/>
            <a:ext cx="69924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Candara Light" panose="020E0502030303020204" pitchFamily="34" charset="0"/>
              </a:rPr>
              <a:t>A </a:t>
            </a:r>
            <a:r>
              <a:rPr lang="en-US" b="1" dirty="0">
                <a:solidFill>
                  <a:schemeClr val="bg1"/>
                </a:solidFill>
                <a:latin typeface="Candara Light" panose="020E0502030303020204" pitchFamily="34" charset="0"/>
              </a:rPr>
              <a:t>stronger</a:t>
            </a:r>
            <a:r>
              <a:rPr lang="en-US" sz="2000" b="1" dirty="0">
                <a:solidFill>
                  <a:schemeClr val="bg1"/>
                </a:solidFill>
                <a:latin typeface="Candara Light" panose="020E0502030303020204" pitchFamily="34" charset="0"/>
              </a:rPr>
              <a:t> world starts with safer women</a:t>
            </a:r>
            <a:r>
              <a:rPr lang="en-IN" sz="2000" b="1" dirty="0">
                <a:solidFill>
                  <a:schemeClr val="bg1"/>
                </a:solidFill>
                <a:latin typeface="Candara Light" panose="020E0502030303020204" pitchFamily="34" charset="0"/>
              </a:rPr>
              <a:t>🌍💪✨</a:t>
            </a:r>
            <a:endParaRPr lang="en-IN" sz="2000" b="1" dirty="0">
              <a:solidFill>
                <a:schemeClr val="bg1"/>
              </a:solidFill>
              <a:latin typeface="Candara Light" panose="020E0502030303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6572</Words>
  <Application>WPS Presentation</Application>
  <PresentationFormat>On-screen Show (16:9)</PresentationFormat>
  <Paragraphs>285</Paragraphs>
  <Slides>12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9" baseType="lpstr">
      <vt:lpstr>Arial</vt:lpstr>
      <vt:lpstr>SimSun</vt:lpstr>
      <vt:lpstr>Wingdings</vt:lpstr>
      <vt:lpstr>Georgia</vt:lpstr>
      <vt:lpstr>Georgia</vt:lpstr>
      <vt:lpstr>Georgia</vt:lpstr>
      <vt:lpstr>Trebuchet MS</vt:lpstr>
      <vt:lpstr>Trebuchet MS</vt:lpstr>
      <vt:lpstr>Trebuchet MS</vt:lpstr>
      <vt:lpstr>Calibri</vt:lpstr>
      <vt:lpstr>Calibri</vt:lpstr>
      <vt:lpstr>Calibri</vt:lpstr>
      <vt:lpstr>Brush Script MT</vt:lpstr>
      <vt:lpstr>Candara Light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SHERISE - Empower &amp; Protect</dc:title>
  <dc:creator>PptxGenJS</dc:creator>
  <dc:subject>PptxGenJS Presentation</dc:subject>
  <cp:lastModifiedBy>WPS_1707975241</cp:lastModifiedBy>
  <cp:revision>6</cp:revision>
  <dcterms:created xsi:type="dcterms:W3CDTF">2026-04-07T05:36:00Z</dcterms:created>
  <dcterms:modified xsi:type="dcterms:W3CDTF">2026-04-11T04:00:04Z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979981540910454CB2674E7DEE37A16F_13</vt:lpwstr>
  </property>
  <property fmtid="{D5CDD505-2E9C-101B-9397-08002B2CF9AE}" pid="3" name="KSOProductBuildVer">
    <vt:lpwstr>1033-12.2.0.23196</vt:lpwstr>
  </property>
</Properties>
</file>